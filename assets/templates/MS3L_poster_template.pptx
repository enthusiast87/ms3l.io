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43891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s3l-lockup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658368"/>
            <a:ext cx="9326880" cy="1611007"/>
          </a:xfrm>
          <a:prstGeom prst="rect">
            <a:avLst/>
          </a:prstGeom>
        </p:spPr>
      </p:pic>
      <p:pic>
        <p:nvPicPr>
          <p:cNvPr id="4" name="Picture 3" descr="kric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0" y="960120"/>
            <a:ext cx="3840480" cy="1212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2395728"/>
            <a:ext cx="301752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6000" b="1">
                <a:solidFill>
                  <a:srgbClr val="0B2F5B"/>
                </a:solidFill>
                <a:latin typeface="Arial"/>
              </a:rPr>
              <a:t>Poster title goes here, one or two lines at most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187952"/>
            <a:ext cx="30175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075C2"/>
                </a:solidFill>
                <a:latin typeface="Arial"/>
              </a:rPr>
              <a:t>Jihoon Kim¹²*, Coauthor One¹, Coauthor Two²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4864608"/>
            <a:ext cx="30175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>
                <a:solidFill>
                  <a:srgbClr val="5B6F84"/>
                </a:solidFill>
                <a:latin typeface="Arial"/>
              </a:rPr>
              <a:t>¹ Chemical Process Technology Division, Korea Research Institute of Chemical Technology (KRICT), Daejeon, Republic of Korea
² Advanced Materials and Chemical Engineering, University of Science and Technology (UST)    •    * jh.kim@krict.re.kr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852160"/>
            <a:ext cx="32918400" cy="109728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7040880"/>
            <a:ext cx="9326880" cy="1051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7040880"/>
            <a:ext cx="9326880" cy="128016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7607808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Arial"/>
              </a:rPr>
              <a:t>1. Introduction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8613648"/>
            <a:ext cx="3108960" cy="10058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9107423"/>
            <a:ext cx="7863840" cy="777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Arial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18288000"/>
            <a:ext cx="9326880" cy="1051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18288000"/>
            <a:ext cx="9326880" cy="128016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18854928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Arial"/>
              </a:rPr>
              <a:t>2. Materials and methods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0" y="19860768"/>
            <a:ext cx="3108960" cy="10058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0354543"/>
            <a:ext cx="7863840" cy="777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Arial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29535120"/>
            <a:ext cx="9326880" cy="10881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63040" y="29535120"/>
            <a:ext cx="9326880" cy="128016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30102048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Arial"/>
              </a:rPr>
              <a:t>3. Experimental setup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1107888"/>
            <a:ext cx="3108960" cy="10058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560" y="31601663"/>
            <a:ext cx="7863840" cy="8138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Arial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95760" y="7040880"/>
            <a:ext cx="9326880" cy="1554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795760" y="7040880"/>
            <a:ext cx="9326880" cy="128016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527280" y="7818120"/>
            <a:ext cx="7863840" cy="12938760"/>
          </a:xfrm>
          <a:prstGeom prst="rect">
            <a:avLst/>
          </a:prstGeom>
          <a:solidFill>
            <a:srgbClr val="F4F8FD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27280" y="1435608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9AAEC2"/>
                </a:solidFill>
                <a:latin typeface="Arial"/>
              </a:rPr>
              <a:t>Place figure here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0" y="21122640"/>
            <a:ext cx="7863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B6F84"/>
                </a:solidFill>
                <a:latin typeface="Arial"/>
              </a:rPr>
              <a:t>Figure 1. Caption describing what the reader should take from this panel.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795760" y="23317200"/>
            <a:ext cx="9326880" cy="17099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95760" y="23317200"/>
            <a:ext cx="9326880" cy="128016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527280" y="24094440"/>
            <a:ext cx="7863840" cy="14493240"/>
          </a:xfrm>
          <a:prstGeom prst="rect">
            <a:avLst/>
          </a:prstGeom>
          <a:solidFill>
            <a:srgbClr val="F4F8FD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527280" y="3140964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0">
                <a:solidFill>
                  <a:srgbClr val="9AAEC2"/>
                </a:solidFill>
                <a:latin typeface="Arial"/>
              </a:rPr>
              <a:t>Place figure here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7280" y="38953440"/>
            <a:ext cx="7863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B6F84"/>
                </a:solidFill>
                <a:latin typeface="Arial"/>
              </a:rPr>
              <a:t>Figure 2. Caption.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0" y="7040880"/>
            <a:ext cx="9326880" cy="1554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28480" y="7040880"/>
            <a:ext cx="9326880" cy="128016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60000" y="7607808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Arial"/>
              </a:rPr>
              <a:t>4. Results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0" y="8613648"/>
            <a:ext cx="3108960" cy="10058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00" y="9107423"/>
            <a:ext cx="7863840" cy="1280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600" b="0">
                <a:solidFill>
                  <a:srgbClr val="5B6F84"/>
                </a:solidFill>
                <a:latin typeface="Arial"/>
              </a:rPr>
              <a:t>Replace with your text. Body copy at this size stays readable from about 1.5 m, which is where people stand at a poster board.
Keep each section to a few short paragraphs and let the figures carry the argument.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128480" y="23317200"/>
            <a:ext cx="9326880" cy="17099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28480" y="23317200"/>
            <a:ext cx="9326880" cy="128016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860000" y="23884128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B2F5B"/>
                </a:solidFill>
                <a:latin typeface="Arial"/>
              </a:rPr>
              <a:t>5. Conclusions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00" y="24889968"/>
            <a:ext cx="3108960" cy="100584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860000" y="25584912"/>
            <a:ext cx="274320" cy="27432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454360" y="2542032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Arial"/>
              </a:rPr>
              <a:t>First conclusion in one line.</a:t>
            </a:r>
          </a:p>
        </p:txBody>
      </p:sp>
      <p:sp>
        <p:nvSpPr>
          <p:cNvPr id="45" name="Oval 44"/>
          <p:cNvSpPr/>
          <p:nvPr/>
        </p:nvSpPr>
        <p:spPr>
          <a:xfrm>
            <a:off x="22860000" y="27047952"/>
            <a:ext cx="274320" cy="27432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454360" y="2688336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Arial"/>
              </a:rPr>
              <a:t>Second conclusion.</a:t>
            </a:r>
          </a:p>
        </p:txBody>
      </p:sp>
      <p:sp>
        <p:nvSpPr>
          <p:cNvPr id="47" name="Oval 46"/>
          <p:cNvSpPr/>
          <p:nvPr/>
        </p:nvSpPr>
        <p:spPr>
          <a:xfrm>
            <a:off x="22860000" y="28510992"/>
            <a:ext cx="274320" cy="274320"/>
          </a:xfrm>
          <a:prstGeom prst="ellipse">
            <a:avLst/>
          </a:prstGeom>
          <a:solidFill>
            <a:srgbClr val="00AD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454360" y="28346400"/>
            <a:ext cx="7223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>
                <a:solidFill>
                  <a:srgbClr val="0B2F5B"/>
                </a:solidFill>
                <a:latin typeface="Arial"/>
              </a:rPr>
              <a:t>Third conclusion.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860000" y="30723840"/>
            <a:ext cx="7863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0">
                <a:solidFill>
                  <a:srgbClr val="5B6F84"/>
                </a:solidFill>
                <a:latin typeface="Arial"/>
              </a:rPr>
              <a:t>Acknowledgements. Funding source and grant number.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41513760"/>
            <a:ext cx="32918400" cy="109728"/>
          </a:xfrm>
          <a:prstGeom prst="rect">
            <a:avLst/>
          </a:prstGeom>
          <a:gradFill rotWithShape="1">
            <a:gsLst>
              <a:gs pos="0">
                <a:srgbClr val="0075C2"/>
              </a:gs>
              <a:gs pos="100000">
                <a:srgbClr val="00ADA9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63040" y="42172128"/>
            <a:ext cx="20116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F5B"/>
                </a:solidFill>
                <a:latin typeface="Arial"/>
              </a:rPr>
              <a:t>Membrane-based Sustainable Separation Solutions Laboratory  •  KRICT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63040" y="42940224"/>
            <a:ext cx="2011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5B6F84"/>
                </a:solidFill>
                <a:latin typeface="Arial"/>
              </a:rPr>
              <a:t>jh.kim@krict.re.kr    •    +82-42-860-7506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659600" y="42473880"/>
            <a:ext cx="11795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600" b="0">
                <a:solidFill>
                  <a:srgbClr val="0075C2"/>
                </a:solidFill>
                <a:latin typeface="Arial"/>
              </a:rPr>
              <a:t>https://ms3l.org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