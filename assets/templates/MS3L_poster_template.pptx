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859536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s3l-lockup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822960"/>
            <a:ext cx="12344400" cy="2132215"/>
          </a:xfrm>
          <a:prstGeom prst="rect">
            <a:avLst/>
          </a:prstGeom>
        </p:spPr>
      </p:pic>
      <p:pic>
        <p:nvPicPr>
          <p:cNvPr id="5" name="Picture 4" descr="ms3l-avatar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0" y="914400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3291840"/>
            <a:ext cx="30175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>
                <a:solidFill>
                  <a:srgbClr val="FFFFFF"/>
                </a:solidFill>
                <a:latin typeface="Noto Sans KR"/>
              </a:rPr>
              <a:t>Poster title goes here, one or two lines at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989320"/>
            <a:ext cx="3017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2F4F7"/>
                </a:solidFill>
                <a:latin typeface="Noto Sans KR"/>
              </a:rPr>
              <a:t>Jihoon Kim¹²*, Coauthor One¹, Coauthor Two²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903720"/>
            <a:ext cx="3017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BFE9EE"/>
                </a:solidFill>
                <a:latin typeface="Noto Sans KR"/>
              </a:rPr>
              <a:t>¹ Chemical Process Technology Division, Korea Research Institute of Chemical Technology (KRICT), Daejeon, Republic of Korea
² Advanced Materials and Chemical Engineering, University of Science and Technology (UST)    •    * jh.kim@krict.re.kr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9875520"/>
            <a:ext cx="9326880" cy="105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98755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04698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1. 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147572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1978640"/>
            <a:ext cx="7863840" cy="777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1122640"/>
            <a:ext cx="9326880" cy="105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211226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17170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2. Materials and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272284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3225760"/>
            <a:ext cx="7863840" cy="777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2369760"/>
            <a:ext cx="9326880" cy="749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3236976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29641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3. Experimental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96996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4472880"/>
            <a:ext cx="7863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0" y="9875520"/>
            <a:ext cx="9326880" cy="1554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95760" y="98755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527280" y="10698480"/>
            <a:ext cx="7863840" cy="1289304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0" y="171907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9AAEC2"/>
                </a:solidFill>
                <a:latin typeface="Noto Sans KR"/>
              </a:rPr>
              <a:t>Place figure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0" y="2395728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B6F84"/>
                </a:solidFill>
                <a:latin typeface="Noto Sans KR"/>
              </a:rPr>
              <a:t>Figure 1. Caption describing what the reader should take from this panel.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95760" y="26151840"/>
            <a:ext cx="9326880" cy="137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95760" y="261518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527280" y="26974800"/>
            <a:ext cx="7863840" cy="1106424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27280" y="3255264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9AAEC2"/>
                </a:solidFill>
                <a:latin typeface="Noto Sans KR"/>
              </a:rPr>
              <a:t>Place figure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0" y="384048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B6F84"/>
                </a:solidFill>
                <a:latin typeface="Noto Sans KR"/>
              </a:rPr>
              <a:t>Figure 2. Caption.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128480" y="9875520"/>
            <a:ext cx="9326880" cy="1554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28480" y="987552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0" y="104698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4.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0" y="1147572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0" y="11978640"/>
            <a:ext cx="7863840" cy="128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B6F84"/>
                </a:solidFill>
                <a:latin typeface="Noto Sans KR"/>
              </a:rPr>
              <a:t>Replace with your text. Body copy at this size stays readable from about 1.5 m, which is where people stand at a poster board.
Keep each section to a few short paragraphs and let the figures carry the argument.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0" y="26151840"/>
            <a:ext cx="9326880" cy="137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28480" y="26151840"/>
            <a:ext cx="9326880" cy="146304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0" y="267462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Noto Sans KR"/>
              </a:rPr>
              <a:t>5. Conclusions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0" y="27752040"/>
            <a:ext cx="3108960" cy="118872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860000" y="2851099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454360" y="2834640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First conclusion in one line.</a:t>
            </a:r>
          </a:p>
        </p:txBody>
      </p:sp>
      <p:sp>
        <p:nvSpPr>
          <p:cNvPr id="45" name="Oval 44"/>
          <p:cNvSpPr/>
          <p:nvPr/>
        </p:nvSpPr>
        <p:spPr>
          <a:xfrm>
            <a:off x="22860000" y="2997403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54360" y="2980944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Second conclusion.</a:t>
            </a:r>
          </a:p>
        </p:txBody>
      </p:sp>
      <p:sp>
        <p:nvSpPr>
          <p:cNvPr id="47" name="Oval 46"/>
          <p:cNvSpPr/>
          <p:nvPr/>
        </p:nvSpPr>
        <p:spPr>
          <a:xfrm>
            <a:off x="22860000" y="31437072"/>
            <a:ext cx="274320" cy="27432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54360" y="31272480"/>
            <a:ext cx="722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0B2F5B"/>
                </a:solidFill>
                <a:latin typeface="Noto Sans KR"/>
              </a:rPr>
              <a:t>Third conclusion.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0" y="33649920"/>
            <a:ext cx="7863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>
                <a:solidFill>
                  <a:srgbClr val="5B6F84"/>
                </a:solidFill>
                <a:latin typeface="Noto Sans KR"/>
              </a:rPr>
              <a:t>Acknowledgements. Funding source and grant number.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0965120"/>
            <a:ext cx="32918400" cy="292608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63040" y="41788080"/>
            <a:ext cx="20116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Noto Sans KR"/>
              </a:rPr>
              <a:t>Membrane-based Sustainable Separation Solutions Laboratory  •  KRICT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42748200"/>
            <a:ext cx="2011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CBECF1"/>
                </a:solidFill>
                <a:latin typeface="Noto Sans KR"/>
              </a:rPr>
              <a:t>jh.kim@krict.re.kr    •    +82-42-860-7506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0" y="42153840"/>
            <a:ext cx="11795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>
                <a:solidFill>
                  <a:srgbClr val="E2F4F7"/>
                </a:solidFill>
                <a:latin typeface="Noto Sans KR"/>
              </a:rPr>
              <a:t>https://ms3l.org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